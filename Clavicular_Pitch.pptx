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5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65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78000"/>
          </a:blip>
          <a:stretch>
            <a:fillRect/>
          </a:stretch>
        </p:blipFill>
        <p:spPr>
          <a:xfrm>
            <a:off x="5120640" y="-182880"/>
            <a:ext cx="2926080" cy="5577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B1D3A">
              <a:alpha val="55000"/>
            </a:srgbClr>
          </a:solidFill>
          <a:ln w="12700">
            <a:solidFill>
              <a:srgbClr val="0B1D3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94360" y="822960"/>
            <a:ext cx="50292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Clavicular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94360" y="1965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Triage for Faster, Safer Decisions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94360" y="2633472"/>
            <a:ext cx="4754880" cy="0"/>
          </a:xfrm>
          <a:prstGeom prst="line">
            <a:avLst/>
          </a:prstGeom>
          <a:noFill/>
          <a:ln w="1905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278892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9EC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LotusHacks 2026  ·  Team of 4  ·  30-hour MVP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4360" y="32461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C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anyone instant first-pass health guidance — body-map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C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interaction, clinical AI reasoning, and voice support in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C8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Vietnamese.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 Solve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 / 06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>
            <a:off x="6217920" y="731520"/>
            <a:ext cx="2560320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65760" y="1170432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170432"/>
            <a:ext cx="2606040" cy="822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31673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🏥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02920" y="202996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Uneven Access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02920" y="2505456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and busy communities lack timely access to qualified healthcare, especially outside clinic hours.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154680" y="1170432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54680" y="1170432"/>
            <a:ext cx="2606040" cy="822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54680" y="131673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291840" y="202996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Self-Diagnosis Risk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291840" y="2505456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delay care or rely on unreliable social media, risking serious and avoidable health outcomes.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943600" y="1170432"/>
            <a:ext cx="26060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943600" y="1170432"/>
            <a:ext cx="2606040" cy="822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943600" y="1316736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⏳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080760" y="202996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Early Triage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080760" y="2505456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first-pass assessment is slow, expensive, or unavailable when patients need it most.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0" y="4544568"/>
            <a:ext cx="9144000" cy="598932"/>
          </a:xfrm>
          <a:prstGeom prst="rect">
            <a:avLst/>
          </a:prstGeom>
          <a:solidFill>
            <a:srgbClr val="D6F5F3"/>
          </a:solidFill>
          <a:ln w="12700">
            <a:solidFill>
              <a:srgbClr val="D6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4544568"/>
            <a:ext cx="8412480" cy="598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need:  ✔ Fast symptom understanding   ✔ Clear urgency guidance (home vs. urgent care)   ✔ Trusted references in simple language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Clavicular 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 / 06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115568"/>
            <a:ext cx="5577840" cy="621792"/>
          </a:xfrm>
          <a:prstGeom prst="rect">
            <a:avLst/>
          </a:prstGeom>
          <a:solidFill>
            <a:srgbClr val="E8F4F4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197864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197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170432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Tap Body Map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697480" y="1426464"/>
            <a:ext cx="137160" cy="0"/>
          </a:xfrm>
          <a:prstGeom prst="line">
            <a:avLst/>
          </a:prstGeom>
          <a:noFill/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80360" y="117043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region of discomfort on an interactive anatomy diagram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7202" y="1815084"/>
            <a:ext cx="5577840" cy="621792"/>
          </a:xfrm>
          <a:prstGeom prst="rect">
            <a:avLst/>
          </a:prstGeom>
          <a:solidFill>
            <a:srgbClr val="E8F4F4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02920" y="1874520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1847088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Symptoms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697480" y="2103120"/>
            <a:ext cx="137160" cy="0"/>
          </a:xfrm>
          <a:prstGeom prst="line">
            <a:avLst/>
          </a:prstGeom>
          <a:noFill/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880360" y="184708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voice input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" y="2468880"/>
            <a:ext cx="5577840" cy="621792"/>
          </a:xfrm>
          <a:prstGeom prst="rect">
            <a:avLst/>
          </a:prstGeom>
          <a:solidFill>
            <a:srgbClr val="00B4A6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02920" y="2551176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0292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A6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97280" y="2523744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Reasons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697480" y="2779776"/>
            <a:ext cx="13716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880360" y="252374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questions, clinical reasoning &amp; risk scoring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3145536"/>
            <a:ext cx="5577840" cy="621792"/>
          </a:xfrm>
          <a:prstGeom prst="rect">
            <a:avLst/>
          </a:prstGeom>
          <a:solidFill>
            <a:srgbClr val="E8F4F4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2920" y="3227832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97280" y="3200400"/>
            <a:ext cx="1554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Results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697480" y="3456432"/>
            <a:ext cx="137160" cy="0"/>
          </a:xfrm>
          <a:prstGeom prst="line">
            <a:avLst/>
          </a:prstGeom>
          <a:noFill/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880360" y="320040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· Actions · Medical references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" y="3822192"/>
            <a:ext cx="5577840" cy="621792"/>
          </a:xfrm>
          <a:prstGeom prst="rect">
            <a:avLst/>
          </a:prstGeom>
          <a:solidFill>
            <a:srgbClr val="E8F4F4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502920" y="3904488"/>
            <a:ext cx="457200" cy="457200"/>
          </a:xfrm>
          <a:prstGeom prst="ellipse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029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97280" y="3877056"/>
            <a:ext cx="1645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A"/>
                </a:solidFill>
                <a:latin typeface="Trebuchet MS" pitchFamily="34" charset="0"/>
              </a:rPr>
              <a:t>Find Treatment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2697480" y="4133088"/>
            <a:ext cx="137160" cy="0"/>
          </a:xfrm>
          <a:prstGeom prst="line">
            <a:avLst/>
          </a:prstGeom>
          <a:noFill/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880360" y="387705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Clavicular helps you find nearby clinics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0" y="4617720"/>
            <a:ext cx="6217920" cy="5257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228600" y="4617720"/>
            <a:ext cx="58521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Safety: Clavicular supports triage — not final diagnosis. Always consult a physician.</a:t>
            </a:r>
            <a:endParaRPr lang="en-US" sz="1150" dirty="0"/>
          </a:p>
        </p:txBody>
      </p:sp>
      <p:pic>
        <p:nvPicPr>
          <p:cNvPr id="1030" name="Picture 6" descr="Clavicular – screenshot 1">
            <a:extLst>
              <a:ext uri="{FF2B5EF4-FFF2-40B4-BE49-F238E27FC236}">
                <a16:creationId xmlns:a16="http://schemas.microsoft.com/office/drawing/2014/main" id="{25641050-7FDD-C27E-F591-49B203D4D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040" y="1170432"/>
            <a:ext cx="3215017" cy="323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 (MVP)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 / 06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402336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73152" cy="17830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(Flutter + HTML/CSS/JS)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+ web UI workstream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385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3D body map + symptom capture</a:t>
            </a:r>
          </a:p>
        </p:txBody>
      </p:sp>
      <p:sp>
        <p:nvSpPr>
          <p:cNvPr id="11" name="Text 9"/>
          <p:cNvSpPr/>
          <p:nvPr/>
        </p:nvSpPr>
        <p:spPr>
          <a:xfrm>
            <a:off x="594360" y="22128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090672"/>
            <a:ext cx="4023360" cy="19385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20040" y="3090672"/>
            <a:ext cx="73152" cy="19385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8211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(NodeJS + Python </a:t>
            </a:r>
            <a:r>
              <a:rPr lang="en-US" sz="1550" b="1" dirty="0" err="1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r>
              <a:rPr lang="en-US" sz="1550" b="1" dirty="0">
                <a:solidFill>
                  <a:srgbClr val="0B1D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94360" y="361188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/chat — conversational triage + session memory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/diagnose — structured first-pass diagnosis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416052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/clinics — nearby clinic recommendations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4434840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/tts — spoken guidance output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26280" y="1143000"/>
            <a:ext cx="4206240" cy="3886200"/>
          </a:xfrm>
          <a:prstGeom prst="rect">
            <a:avLst/>
          </a:prstGeom>
          <a:solidFill>
            <a:srgbClr val="0B1D3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143000"/>
            <a:ext cx="4206240" cy="82296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12618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Integrations &amp; Tools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8920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92040" y="21762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acceleration, debugging, rapid iteration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496312"/>
            <a:ext cx="3749040" cy="0"/>
          </a:xfrm>
          <a:prstGeom prst="line">
            <a:avLst/>
          </a:prstGeom>
          <a:noFill/>
          <a:ln w="9525">
            <a:solidFill>
              <a:srgbClr val="1E4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624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OpenRouter / OpenAI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892040" y="29260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routing (OpenAI-compatible)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246120"/>
            <a:ext cx="3749040" cy="0"/>
          </a:xfrm>
          <a:prstGeom prst="line">
            <a:avLst/>
          </a:prstGeom>
          <a:noFill/>
          <a:ln w="9525">
            <a:solidFill>
              <a:srgbClr val="1E4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3741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A6"/>
                </a:solidFill>
                <a:latin typeface="Trebuchet MS" pitchFamily="34" charset="0"/>
              </a:rPr>
              <a:t>Blender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892040" y="3675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human anatomy.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995928"/>
            <a:ext cx="3749040" cy="0"/>
          </a:xfrm>
          <a:prstGeom prst="line">
            <a:avLst/>
          </a:prstGeom>
          <a:noFill/>
          <a:ln w="9525">
            <a:solidFill>
              <a:srgbClr val="1E4D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41239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Exa.ai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89204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CB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source retrieval &amp; references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"/>
            <a:ext cx="9144000" cy="960120"/>
          </a:xfrm>
          <a:prstGeom prst="rect">
            <a:avLst/>
          </a:prstGeom>
          <a:solidFill>
            <a:srgbClr val="0B1D3A"/>
          </a:solidFill>
          <a:ln w="127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</a:rPr>
              <a:t>Clavicular fits all 4 tracks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863840" y="27432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863840" y="274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 / 06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8000"/>
          </a:blip>
          <a:stretch>
            <a:fillRect/>
          </a:stretch>
        </p:blipFill>
        <p:spPr>
          <a:xfrm>
            <a:off x="7086600" y="1143000"/>
            <a:ext cx="1920240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143000"/>
            <a:ext cx="4206240" cy="1828800"/>
          </a:xfrm>
          <a:prstGeom prst="rect">
            <a:avLst/>
          </a:prstGeom>
          <a:solidFill>
            <a:srgbClr val="F4FA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20040" y="1143000"/>
            <a:ext cx="4206240" cy="82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1252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Social &amp; Mobility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1673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healthcare accessibility for underserved &amp; rural communities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2039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gap between symptom onset and professional care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2404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90872" y="1143000"/>
            <a:ext cx="4206240" cy="1828800"/>
          </a:xfrm>
          <a:prstGeom prst="rect">
            <a:avLst/>
          </a:prstGeom>
          <a:solidFill>
            <a:srgbClr val="F4FA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690872" y="1143000"/>
            <a:ext cx="4206240" cy="82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28032" y="12527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Technology &amp; Consumer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28032" y="16733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experience on Flutter + Web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828032" y="20391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interaction via OpenAI Whisper for ease of access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828032" y="24048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Body-map UI is intuitive — no medical jargon required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20040" y="3081528"/>
            <a:ext cx="4206240" cy="1828800"/>
          </a:xfrm>
          <a:prstGeom prst="rect">
            <a:avLst/>
          </a:prstGeom>
          <a:solidFill>
            <a:srgbClr val="F4FA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0040" y="3081528"/>
            <a:ext cx="4206240" cy="822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7200" y="31912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Enterprise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5720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API-ready 3-layer body model for clinics, hospitals &amp; insurers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57200" y="3977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Session-aware AI backend with structured output for integration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4343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scales from MVP to production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690872" y="3081528"/>
            <a:ext cx="4206240" cy="1828800"/>
          </a:xfrm>
          <a:prstGeom prst="rect">
            <a:avLst/>
          </a:prstGeom>
          <a:solidFill>
            <a:srgbClr val="F4FAFA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90872" y="3081528"/>
            <a:ext cx="4206240" cy="822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28032" y="31912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EdTech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828032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+ symptom learning through interactive body-map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828032" y="3977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reasoning teaches users about conditions in plain language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4828032" y="4343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university health &amp; nursing curriculum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D6F5F3"/>
          </a:solidFill>
          <a:ln w="12700">
            <a:solidFill>
              <a:srgbClr val="D6F5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65760" y="4773168"/>
            <a:ext cx="841248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8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Bonus: Strong sponsor-tool alignment — Codex · ElevenLabs · OpenRouter · Exa.ai used across ALL tracks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2000"/>
          </a:blip>
          <a:stretch>
            <a:fillRect/>
          </a:stretch>
        </p:blipFill>
        <p:spPr>
          <a:xfrm>
            <a:off x="5852160" y="91440"/>
            <a:ext cx="3200400" cy="5943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15000" y="963"/>
            <a:ext cx="3383280" cy="5143500"/>
          </a:xfrm>
          <a:prstGeom prst="rect">
            <a:avLst/>
          </a:prstGeom>
          <a:solidFill>
            <a:srgbClr val="0B1D3A">
              <a:alpha val="55000"/>
            </a:srgbClr>
          </a:solidFill>
          <a:ln w="12700">
            <a:solidFill>
              <a:srgbClr val="0B1D3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863840" y="274320"/>
            <a:ext cx="914400" cy="411480"/>
          </a:xfrm>
          <a:prstGeom prst="roundRect">
            <a:avLst>
              <a:gd name="adj" fmla="val 33333"/>
            </a:avLst>
          </a:prstGeom>
          <a:solidFill>
            <a:srgbClr val="008C82"/>
          </a:solidFill>
          <a:ln w="12700">
            <a:solidFill>
              <a:srgbClr val="008C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0" y="274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 / 06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32004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Our Journey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11155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IMPROVEMENTS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customization (more body types) and 3D model quality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8105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Vietnamese clinical phrasing quality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15798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analytics for triage outcomes &amp; model confidence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250545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deployment pipeline + monitoring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3796" y="28449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LEARNED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3273552"/>
            <a:ext cx="5120640" cy="420624"/>
          </a:xfrm>
          <a:prstGeom prst="rect">
            <a:avLst/>
          </a:prstGeom>
          <a:solidFill>
            <a:srgbClr val="0D2A46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49808" y="3319272"/>
            <a:ext cx="329184" cy="32918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49808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A"/>
                </a:solidFill>
              </a:rPr>
              <a:t>01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70432" y="327355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great deal of software architectural techniques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3749040"/>
            <a:ext cx="5120640" cy="420624"/>
          </a:xfrm>
          <a:prstGeom prst="rect">
            <a:avLst/>
          </a:prstGeom>
          <a:solidFill>
            <a:srgbClr val="0D2A46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49808" y="3794760"/>
            <a:ext cx="329184" cy="32918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4980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D3A"/>
                </a:solidFill>
              </a:rPr>
              <a:t>02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70432" y="374904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 of body anatomy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4224528"/>
            <a:ext cx="5120640" cy="420624"/>
          </a:xfrm>
          <a:prstGeom prst="rect">
            <a:avLst/>
          </a:prstGeom>
          <a:solidFill>
            <a:srgbClr val="0D2A46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49808" y="4270248"/>
            <a:ext cx="329184" cy="329184"/>
          </a:xfrm>
          <a:prstGeom prst="ellipse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9808" y="4270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rgbClr val="0B1D3A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70432" y="422452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rendering and Medical AI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49808" y="971027"/>
            <a:ext cx="3474720" cy="0"/>
          </a:xfrm>
          <a:prstGeom prst="line">
            <a:avLst/>
          </a:prstGeom>
          <a:noFill/>
          <a:ln w="1905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897880" y="2225241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\</a:t>
            </a:r>
            <a:endParaRPr lang="en-US" sz="2200" dirty="0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E86E05D1-6334-ADB9-3065-F9C99E229387}"/>
              </a:ext>
            </a:extLst>
          </p:cNvPr>
          <p:cNvSpPr/>
          <p:nvPr/>
        </p:nvSpPr>
        <p:spPr>
          <a:xfrm>
            <a:off x="640080" y="4690872"/>
            <a:ext cx="5120640" cy="420624"/>
          </a:xfrm>
          <a:prstGeom prst="rect">
            <a:avLst/>
          </a:prstGeom>
          <a:solidFill>
            <a:srgbClr val="0D2A46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25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9AEC409-BD6C-4CEA-BE22-4D540CC412D5}"/>
              </a:ext>
            </a:extLst>
          </p:cNvPr>
          <p:cNvGrpSpPr/>
          <p:nvPr/>
        </p:nvGrpSpPr>
        <p:grpSpPr>
          <a:xfrm>
            <a:off x="759445" y="4730496"/>
            <a:ext cx="329184" cy="341376"/>
            <a:chOff x="902208" y="4422648"/>
            <a:chExt cx="329184" cy="341376"/>
          </a:xfrm>
        </p:grpSpPr>
        <p:sp>
          <p:nvSpPr>
            <p:cNvPr id="34" name="Shape 20">
              <a:extLst>
                <a:ext uri="{FF2B5EF4-FFF2-40B4-BE49-F238E27FC236}">
                  <a16:creationId xmlns:a16="http://schemas.microsoft.com/office/drawing/2014/main" id="{BD04F33C-9E5D-665D-7D2E-50CFDF2DEC6A}"/>
                </a:ext>
              </a:extLst>
            </p:cNvPr>
            <p:cNvSpPr/>
            <p:nvPr/>
          </p:nvSpPr>
          <p:spPr>
            <a:xfrm>
              <a:off x="902208" y="4422648"/>
              <a:ext cx="329184" cy="329184"/>
            </a:xfrm>
            <a:prstGeom prst="ellipse">
              <a:avLst/>
            </a:prstGeom>
            <a:solidFill>
              <a:srgbClr val="00B4A6"/>
            </a:solidFill>
            <a:ln w="12700">
              <a:solidFill>
                <a:srgbClr val="00B4A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21">
              <a:extLst>
                <a:ext uri="{FF2B5EF4-FFF2-40B4-BE49-F238E27FC236}">
                  <a16:creationId xmlns:a16="http://schemas.microsoft.com/office/drawing/2014/main" id="{9DE696F3-DE80-68E6-472F-8558A3E96974}"/>
                </a:ext>
              </a:extLst>
            </p:cNvPr>
            <p:cNvSpPr/>
            <p:nvPr/>
          </p:nvSpPr>
          <p:spPr>
            <a:xfrm>
              <a:off x="902208" y="4434840"/>
              <a:ext cx="329184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000" b="1" dirty="0">
                  <a:solidFill>
                    <a:srgbClr val="0B1D3A"/>
                  </a:solidFill>
                </a:rPr>
                <a:t>04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500</Words>
  <Application>Microsoft Office PowerPoint</Application>
  <PresentationFormat>On-screen Show (16:9)</PresentationFormat>
  <Paragraphs>96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Clavicular - AI Medical Triage</dc:title>
  <dc:subject>PptxGenJS Presentation</dc:subject>
  <dc:creator>PptxGenJS</dc:creator>
  <cp:lastModifiedBy>Loc Nguyen Dinh Thien</cp:lastModifiedBy>
  <cp:revision>3</cp:revision>
  <dcterms:created xsi:type="dcterms:W3CDTF">2026-03-21T16:10:48Z</dcterms:created>
  <dcterms:modified xsi:type="dcterms:W3CDTF">2026-03-22T03:33:52Z</dcterms:modified>
</cp:coreProperties>
</file>